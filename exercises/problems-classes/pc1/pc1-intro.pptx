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10"/>
  </p:normalViewPr>
  <p:slideViewPr>
    <p:cSldViewPr snapToGrid="0" snapToObjects="1">
      <p:cViewPr varScale="1">
        <p:scale>
          <a:sx n="198" d="100"/>
          <a:sy n="198" d="100"/>
        </p:scale>
        <p:origin x="2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9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4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10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4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44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2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3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7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8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5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0E62B-6B2F-4445-B4A2-3E43C4ED3936}" type="datetimeFigureOut">
              <a:rPr lang="en-US" smtClean="0"/>
              <a:t>10/19/20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7E8A-8041-C643-BBBB-197B82B12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35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63FF72-A898-DA41-8DEB-21769D816094}"/>
              </a:ext>
            </a:extLst>
          </p:cNvPr>
          <p:cNvSpPr/>
          <p:nvPr/>
        </p:nvSpPr>
        <p:spPr>
          <a:xfrm>
            <a:off x="1260205" y="2467671"/>
            <a:ext cx="2280744" cy="240686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Fira Sans Medium" panose="020B0503050000020004" pitchFamily="34" charset="0"/>
                <a:ea typeface="Fira Sans Medium" panose="020B0503050000020004" pitchFamily="34" charset="0"/>
              </a:rPr>
              <a:t>Susceptible</a:t>
            </a:r>
          </a:p>
          <a:p>
            <a:pPr algn="ctr"/>
            <a:r>
              <a:rPr lang="en-US" sz="11500" i="1" dirty="0">
                <a:latin typeface="Hoefler Text" panose="02030602050506020203" pitchFamily="18" charset="77"/>
                <a:ea typeface="Libertinus Serif" pitchFamily="2" charset="0"/>
                <a:cs typeface="Libertinus Serif" pitchFamily="2" charset="0"/>
              </a:rPr>
              <a:t>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7D472-D1EF-DB45-8D38-89432C6D8132}"/>
              </a:ext>
            </a:extLst>
          </p:cNvPr>
          <p:cNvSpPr/>
          <p:nvPr/>
        </p:nvSpPr>
        <p:spPr>
          <a:xfrm>
            <a:off x="5706083" y="2467670"/>
            <a:ext cx="2280744" cy="24068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Fira Sans Medium" panose="020B0503050000020004" pitchFamily="34" charset="0"/>
                <a:ea typeface="Fira Sans Medium" panose="020B0503050000020004" pitchFamily="34" charset="0"/>
              </a:rPr>
              <a:t>Infected</a:t>
            </a:r>
          </a:p>
          <a:p>
            <a:pPr algn="ctr"/>
            <a:r>
              <a:rPr lang="en-US" sz="11500" i="1" dirty="0">
                <a:latin typeface="Hoefler Text" panose="02030602050506020203" pitchFamily="18" charset="77"/>
                <a:ea typeface="Libertinus Serif" pitchFamily="2" charset="0"/>
                <a:cs typeface="Libertinus Serif" pitchFamily="2" charset="0"/>
              </a:rPr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2A25B-2B21-1649-B978-25BC5DE867B8}"/>
              </a:ext>
            </a:extLst>
          </p:cNvPr>
          <p:cNvSpPr/>
          <p:nvPr/>
        </p:nvSpPr>
        <p:spPr>
          <a:xfrm>
            <a:off x="892343" y="990968"/>
            <a:ext cx="7451834" cy="48760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latin typeface="Fira Sans Medium" panose="020B0503050000020004" pitchFamily="34" charset="0"/>
              <a:ea typeface="Fira Sans Medium" panose="020B0503050000020004" pitchFamily="34" charset="0"/>
            </a:endParaRPr>
          </a:p>
          <a:p>
            <a:r>
              <a:rPr lang="en-US" dirty="0">
                <a:latin typeface="Fira Sans Medium" panose="020B0503050000020004" pitchFamily="34" charset="0"/>
                <a:ea typeface="Fira Sans Medium" panose="020B0503050000020004" pitchFamily="34" charset="0"/>
              </a:rPr>
              <a:t>    Entire population</a:t>
            </a:r>
          </a:p>
          <a:p>
            <a:r>
              <a:rPr lang="en-US" sz="4400" i="1" dirty="0">
                <a:latin typeface="Hoefler Text" panose="02030602050506020203" pitchFamily="18" charset="77"/>
                <a:ea typeface="Libertinus Serif" pitchFamily="2" charset="0"/>
                <a:cs typeface="Libertinus Serif" pitchFamily="2" charset="0"/>
              </a:rPr>
              <a:t>       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0B40C56-7B37-544C-9BB7-BC6D4D57CDEA}"/>
              </a:ext>
            </a:extLst>
          </p:cNvPr>
          <p:cNvSpPr/>
          <p:nvPr/>
        </p:nvSpPr>
        <p:spPr>
          <a:xfrm rot="19248097">
            <a:off x="3323086" y="2788190"/>
            <a:ext cx="2523858" cy="2570527"/>
          </a:xfrm>
          <a:custGeom>
            <a:avLst/>
            <a:gdLst>
              <a:gd name="connsiteX0" fmla="*/ 1261929 w 2523858"/>
              <a:gd name="connsiteY0" fmla="*/ 0 h 2570527"/>
              <a:gd name="connsiteX1" fmla="*/ 2522175 w 2523858"/>
              <a:gd name="connsiteY1" fmla="*/ 1218902 h 2570527"/>
              <a:gd name="connsiteX2" fmla="*/ 1261929 w 2523858"/>
              <a:gd name="connsiteY2" fmla="*/ 1285264 h 2570527"/>
              <a:gd name="connsiteX3" fmla="*/ 1261929 w 2523858"/>
              <a:gd name="connsiteY3" fmla="*/ 0 h 2570527"/>
              <a:gd name="connsiteX0" fmla="*/ 1261929 w 2523858"/>
              <a:gd name="connsiteY0" fmla="*/ 0 h 2570527"/>
              <a:gd name="connsiteX1" fmla="*/ 2522175 w 2523858"/>
              <a:gd name="connsiteY1" fmla="*/ 1218902 h 2570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23858" h="2570527" stroke="0" extrusionOk="0">
                <a:moveTo>
                  <a:pt x="1261929" y="0"/>
                </a:moveTo>
                <a:cubicBezTo>
                  <a:pt x="1900497" y="-20388"/>
                  <a:pt x="2448077" y="550569"/>
                  <a:pt x="2522175" y="1218902"/>
                </a:cubicBezTo>
                <a:cubicBezTo>
                  <a:pt x="2367539" y="1189112"/>
                  <a:pt x="1451896" y="1363451"/>
                  <a:pt x="1261929" y="1285264"/>
                </a:cubicBezTo>
                <a:cubicBezTo>
                  <a:pt x="1266463" y="1100861"/>
                  <a:pt x="1372023" y="328091"/>
                  <a:pt x="1261929" y="0"/>
                </a:cubicBezTo>
                <a:close/>
              </a:path>
              <a:path w="2523858" h="2570527" fill="none" extrusionOk="0">
                <a:moveTo>
                  <a:pt x="1261929" y="0"/>
                </a:moveTo>
                <a:cubicBezTo>
                  <a:pt x="1877730" y="-30540"/>
                  <a:pt x="2548550" y="564946"/>
                  <a:pt x="2522175" y="1218902"/>
                </a:cubicBezTo>
              </a:path>
            </a:pathLst>
          </a:custGeom>
          <a:ln w="57150">
            <a:solidFill>
              <a:srgbClr val="FFFF00"/>
            </a:solidFill>
            <a:headEnd type="none" w="med" len="med"/>
            <a:tailEnd type="arrow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6200000"/>
                      <a:gd name="adj2" fmla="val 21419142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9</Words>
  <Application>Microsoft Macintosh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Fira Sans Medium</vt:lpstr>
      <vt:lpstr>Hoefler Text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TOWNSEND, ADAM K.</dc:creator>
  <cp:lastModifiedBy>TOWNSEND, ADAM K.</cp:lastModifiedBy>
  <cp:revision>2</cp:revision>
  <dcterms:created xsi:type="dcterms:W3CDTF">2020-10-19T12:28:29Z</dcterms:created>
  <dcterms:modified xsi:type="dcterms:W3CDTF">2020-10-19T14:11:06Z</dcterms:modified>
</cp:coreProperties>
</file>